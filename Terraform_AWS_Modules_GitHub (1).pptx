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626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241C36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914400"/>
            <a:ext cx="3840480" cy="3840480"/>
          </a:xfrm>
          <a:prstGeom prst="ellipse">
            <a:avLst/>
          </a:prstGeom>
          <a:solidFill>
            <a:srgbClr val="2C22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0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621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8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TERRAFORM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Modules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AWS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reusable AWS building blocks, and distributing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through GitHub with version references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512064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512064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Anatomy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95728" y="512064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95728" y="512064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Example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15968" y="5120640"/>
            <a:ext cx="2029968" cy="384048"/>
          </a:xfrm>
          <a:prstGeom prst="roundRect">
            <a:avLst>
              <a:gd name="adj" fmla="val 500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15968" y="512064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Source Refs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10528" y="512064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512064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•  TERRAFORM  •  GITHUB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184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8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Fundamentals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25880" y="18928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Terraform module is and why teams standardize on them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8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25880" y="23774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25880" y="26700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conventional file layout every reusable module follows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8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25880" y="31546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Module Example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25880" y="34472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VPC module: variables, resources, and outputs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16184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8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12280" y="160020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Module Usage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12280" y="18928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child module from a root configuration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8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23774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Distribution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12280" y="26700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modules from Git with refs, tags, and subdirectories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31729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8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12280" y="31546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References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12280" y="34472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strategy and further reading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×  AWS  ×  GITHUB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Terraform Module?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is simply a folder containing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.tf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files. Every Terraform configuration has at least one module — the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module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it can call other, reusable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modules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compose infrastructure.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80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843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51560" y="3118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resources behind a clean input/output interface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3016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3593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51560" y="3867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call from many environments (dev, stage, prod)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79976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5156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the same tested pattern everywhere it's used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675120" y="1417320"/>
            <a:ext cx="4937760" cy="4343400"/>
          </a:xfrm>
          <a:prstGeom prst="roundRect">
            <a:avLst>
              <a:gd name="adj" fmla="val 2105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040880" y="1691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module  (your .tf files)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040880" y="205740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2C2244"/>
          </a:solidFill>
          <a:ln w="19050">
            <a:solidFill>
              <a:srgbClr val="6F4FE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17804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 { source = ... }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144000" y="2697480"/>
            <a:ext cx="0" cy="36576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040880" y="310896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120E1C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269480" y="324612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modules/vpc/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main.tf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variables.tf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outputs.tf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040880" y="48463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provisions AWS resources declared inside the child module, using the inputs passed from root.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×  AWS  ×  GITHUB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Modularize Your AWS Infrastructure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2C22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84248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146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Yourself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VPC, EKS cluster, or S3 bucket pattern once and reuse it across every project instead of copy-pasting HCL.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856232"/>
            <a:ext cx="502920" cy="502920"/>
          </a:xfrm>
          <a:prstGeom prst="ellipse">
            <a:avLst/>
          </a:prstGeom>
          <a:solidFill>
            <a:srgbClr val="2C22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984248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5146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Built In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9432" y="283464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security defaults — encryption, tagging, least-privilege IAM — into the module so every consumer inherits them.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856232"/>
            <a:ext cx="502920" cy="502920"/>
          </a:xfrm>
          <a:prstGeom prst="ellipse">
            <a:avLst/>
          </a:prstGeom>
          <a:solidFill>
            <a:srgbClr val="2C22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1984248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5146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94192" y="283464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teams publish modules; application teams consume them without needing deep AWS provider knowledge.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67912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23944"/>
            <a:ext cx="502920" cy="502920"/>
          </a:xfrm>
          <a:prstGeom prst="ellipse">
            <a:avLst/>
          </a:prstGeom>
          <a:solidFill>
            <a:srgbClr val="2C22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51960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78231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Design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102352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focused modules (network, compute, data) combine into larger environments cleanly.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867912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123944"/>
            <a:ext cx="502920" cy="502920"/>
          </a:xfrm>
          <a:prstGeom prst="ellipse">
            <a:avLst/>
          </a:prstGeom>
          <a:solidFill>
            <a:srgbClr val="2C224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251960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78231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Parity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99432" y="5102352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module, called with different variables, produces identical dev/stage/prod topologies.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867912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41C3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4123944"/>
            <a:ext cx="502920" cy="502920"/>
          </a:xfrm>
          <a:prstGeom prst="ellipse">
            <a:avLst/>
          </a:prstGeom>
          <a:solidFill>
            <a:srgbClr val="2C224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251960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478231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Testing &amp; Review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94192" y="5102352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reviewed once in the module repo, then rolled out via version bumps.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×  AWS  ×  GITHUB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Module Directory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Terraform's registry convention — every well-formed module follows this shape, regardless of cloud provider.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92240" cy="4160520"/>
          </a:xfrm>
          <a:prstGeom prst="roundRect">
            <a:avLst>
              <a:gd name="adj" fmla="val 1758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293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9293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9293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40280"/>
            <a:ext cx="5852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terraform-aws-vpc/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main.tf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primary resource definitions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variables.tf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input variable declarations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outputs.tf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values exposed to callers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versions.tf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required_providers / TF version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usage docs, inputs/outputs table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LICENSE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open-source license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examples/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basic/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minimal working example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main.tf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modules/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optional nested sub-modules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subnets/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783080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241C36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43800" y="21671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AWS resources this module creates (e.g. aws_vpc, aws_subnet).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2843784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241C36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2935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43800" y="32278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every input the module accepts, with types, defaults &amp; descriptions.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3904488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241C36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3995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43800" y="42885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resource attributes (IDs, ARNs) back to the calling configuration.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4965192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241C36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5056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43800" y="5349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Auto-documented by terraform-docs; required for the public registry.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×  AWS  ×  GITHUB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 Reusable VPC Module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build a small VPC module — one public and one private subnet — then call it from a root configuration.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293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9293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9293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8562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 layout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project-root/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main.tf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# root module – calls child module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variables.tf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outputs.tf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terraform.tfvars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modules/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vpc/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 child module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main.tf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# aws_vpc, aws_subnet...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variables.tf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outputs.tf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9842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MODULE — WHAT IT CREATES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237744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2C2244"/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441448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086600" y="2377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  (10.0.0.0/16)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12280" y="3063240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120E1C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95160" y="30632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aws_subnet.public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961120" y="30632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10.0.1.0/24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12280" y="3630168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120E1C"/>
          </a:solidFill>
          <a:ln w="12700">
            <a:solidFill>
              <a:srgbClr val="9C85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95160" y="36301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aws_subnet.private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961120" y="36301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10.0.2.0/24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812280" y="41970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12280" y="45079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812280" y="48188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×  AWS  ×  GITHUB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 Module — variables.tf &amp; main.tf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550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16550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6550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819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modules/vpc/variables.tf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"vpc_cidr"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"CIDR block for the VPC"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   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"10.0.0.0/16"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"environment"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36792" y="16550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83096" y="16550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16550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58191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modules/vpc/main.tf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96596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"aws_vpc"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"this"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      =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var.vpc_cidr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enable_dns_hostnames =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"${var.environment}-vpc"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"aws_subnet"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"public"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=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aws_vpc.this.id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var.public_subnet_cidr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a caller can override lives in variables.tf; resources reference those values with var.&lt;name&gt;.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×  AWS  ×  GITHUB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&amp; Calling the Module from Root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550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16550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6550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819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modules/vpc/outputs.tf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"vpc_id"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aws_vpc.this.id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"public_subnet_id"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aws_subnet.public.id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36792" y="16550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83096" y="16550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16550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58191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  (root module)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96596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"vpc"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"./modules/vpc"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vpc_cidr           =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"10.0.0.0/16"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public_subnet_cidr =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"10.0.1.0/24"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environment        =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var.environment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"aws_instance"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"app"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=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module.vpc.public_subnet_id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module's public interface — the root config reads results via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module.&lt;name&gt;.&lt;output&gt;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×  AWS  ×  GITHUB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 a Module Straight from GitHub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local path, point source at a Git repository. Terraform clones it during init.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836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8836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8836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810512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 — GitHub source variants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"vpc"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"github.com/myorg/terraform-aws-vpc"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 to a release tag (recommended)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"vpc"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"git::https://github.com/myorg/terraform-aws-vpc.git?ref=v1.4.0"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 a module living in a subdirectory of the repo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"vpc"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"git::https://github.com/myorg/tf-modules.git//vpc?ref=v2.0.0"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SSH form, useful for private repositories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"vpc"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"git@github.com:myorg/terraform-aws-vpc.git"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×  AWS  ×  GITHUB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GitHub Module Reference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git::https://github.com/myorg/tf-modules.git//vpc?ref=v2.0.0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241C3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git::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Git protocol downloader (needed when the host isn't auto-detected).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46888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241C3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651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https://github.com/myorg/tf-modules.git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31089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URL — HTTPS or SSH form both work.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241C3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80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//vpc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Double-slash selects a subdirectory inside the repo as the module root.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429768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241C3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4480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?ref=v2.0.0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49377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to a Git tag, branch, or commit SHA — critical for reproducible builds.</a:t>
            </a:r>
            <a:endParaRPr lang="en-US" sz="11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621792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×  AWS  ×  GITHUB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&amp; Versioning Modules on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373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13055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terraform-&lt;provider&gt;-&lt;name&gt;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04672" y="262432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convention, e.g. terraform-aws-vpc — enables auto-discovery on the Terraform Registry.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43400" y="1508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73736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9432" y="213055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 release with SemVer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99432" y="262432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v1.0.0, v1.1.0, v2.0.0 — consumers pin ?ref= to a tag, never to a moving branch.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138160" y="1508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73736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4192" y="213055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README + examples/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394192" y="262432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terraform-docs generates the inputs/outputs table automatically from variables.tf and outputs.tf.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37033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93192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" y="432511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main with CI checks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04672" y="481888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fmt -check, validate, and tflint/checkov on every pull request.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343400" y="37033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93192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99432" y="432511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provider blocks inside modules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599432" y="481888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root module configure providers; child modules stay portable across accounts/regions.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138160" y="37033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393192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94192" y="432511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versions deliberately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8394192" y="481888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 → major version; consumers upgrade on their own schedule via ref=.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×  AWS  ×  GITHUB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the Module Itself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safe defaults into the module so a consumer has to opt out of security, not opt 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297680"/>
          </a:xfrm>
          <a:prstGeom prst="roundRect">
            <a:avLst>
              <a:gd name="adj" fmla="val 1702"/>
            </a:avLst>
          </a:prstGeom>
          <a:solidFill>
            <a:srgbClr val="120E1C"/>
          </a:solidFill>
          <a:ln w="12700">
            <a:solidFill>
              <a:srgbClr val="2C22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836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8836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8836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8105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modules/vpc/variables.tf + main.tf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"db_password"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=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sensitive =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A8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redacted from CLI/plan output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"ingress_cidr"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=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validation {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     =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var.ingress_cidr != "0.0.0.0/0"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error_message =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"Open ingress is not allowed."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C8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"aws_s3_bucket_server_side_encryption_configuration"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"this"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 { apply_server_side_encryption_by_default {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sse_algorithm =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0B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"aws:kms"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}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828800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52360" y="1792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secrets sensitive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52360" y="20848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tokens, and keys never print in plan/apply output or logs.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8529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816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risky inputs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452360" y="3108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blocks reject 0.0.0.0/0 ingress or other unsafe values at plan time.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387705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52360" y="3840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by default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452360" y="41330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KMS/SSE into the resource itself so callers can't silently skip it.</a:t>
            </a:r>
            <a:endParaRPr lang="en-US" sz="10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901184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4864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452360" y="51572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policies to specific resource ARNs and actions, never Action:"*".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×  AWS  ×  GITHUB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Distribution &amp; Supply Chain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module is on GitHub, protect how it's stored, reviewed, and consumed.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659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35915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to a commit SHA or signed tag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285292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ref=v2.0.0 or a full commit hash — never a mutable branch like main.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9659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432" y="235915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every pull request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99432" y="285292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tfsec, checkov, or trivy in CI to catch misconfigurations before merge.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138160" y="17373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96596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94192" y="235915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main branch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394192" y="285292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reviews, signed commits, and CODEOWNERS approval for module changes.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3931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1605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4672" y="455371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Git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04672" y="504748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credentials from AWS Secrets Manager or SSM at apply time, not tfvars.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343400" y="3931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16052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99432" y="455371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remote state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99432" y="504748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backend with SSE-KMS, versioning, and a bucket policy that blocks public access.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8138160" y="3931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C3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16052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94192" y="455371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GitHub security features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8394192" y="504748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and Dependabot alerts on the module repository.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×  AWS  ×  GITHUB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41C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Reading &amp; Resources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9616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463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 documentation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60120" y="17373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developer.hashicorp.com/terraform/language/modules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140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0848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Sources — Git / GitHub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960120" y="235915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developer.hashicorp.com/terraform/language/modules/sources#github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70662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Terraform Registry (AWS modules)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60120" y="298094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registry.terraform.io/browse/modules?provider=aws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64992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3284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terraform-aws-modules (community org)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960120" y="360273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github.com/terraform-aws-modules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86784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39502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terraform-docs — README generation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960120" y="422452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terraform-docs.io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608576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0120" y="4572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Module Structure guide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960120" y="4846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developer.hashicorp.com/terraform/language/modules/develop/structure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230368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60120" y="51937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tfsec — static analysis for Terraform</a:t>
            </a:r>
            <a:endParaRPr lang="en-US" sz="1250" dirty="0"/>
          </a:p>
        </p:txBody>
      </p:sp>
      <p:sp>
        <p:nvSpPr>
          <p:cNvPr id="25" name="Text 16"/>
          <p:cNvSpPr/>
          <p:nvPr/>
        </p:nvSpPr>
        <p:spPr>
          <a:xfrm>
            <a:off x="960120" y="546811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github.com/aquasecurity/tfsec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852160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60120" y="58155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 — policy-as-code scanner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960120" y="60899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checkov.io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7406640" y="160020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241C36"/>
          </a:solidFill>
          <a:ln w="12700">
            <a:solidFill>
              <a:srgbClr val="2C2244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0" y="2103120"/>
            <a:ext cx="914400" cy="9144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68096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32" name="Text 21"/>
          <p:cNvSpPr/>
          <p:nvPr/>
        </p:nvSpPr>
        <p:spPr>
          <a:xfrm>
            <a:off x="7680960" y="3749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a module, pin a ref,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ship consistent AWS infrastructure.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2026-07-10T03:45:29Z</dcterms:created>
  <dcterms:modified xsi:type="dcterms:W3CDTF">2026-07-10T03:45:29Z</dcterms:modified>
</cp:coreProperties>
</file>